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3" r:id="rId3"/>
    <p:sldId id="274" r:id="rId4"/>
    <p:sldId id="275" r:id="rId5"/>
    <p:sldId id="281" r:id="rId6"/>
    <p:sldId id="277" r:id="rId7"/>
    <p:sldId id="278" r:id="rId8"/>
    <p:sldId id="279" r:id="rId9"/>
    <p:sldId id="280" r:id="rId10"/>
    <p:sldId id="266" r:id="rId11"/>
    <p:sldId id="282" r:id="rId12"/>
    <p:sldId id="271" r:id="rId13"/>
    <p:sldId id="267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00A1AD-EB7D-4163-BE02-B0EC3126C17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BB69E-2C9B-4A98-BDB6-B9B7E3688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874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BB69E-2C9B-4A98-BDB6-B9B7E36880F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669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EFC95-068C-3B43-88D8-E9CDB880A4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7D26B2-92B4-B808-67B3-27FEC1A62B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593E1-B1BC-5CB4-8331-D7E32F4F0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C31A0-8114-E951-E69B-71BD77972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0FD2A-BDF4-0113-B6F5-E0A1486E7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344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AAABB-5ACE-2CCB-FD82-46DAAC10F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4BE3E-9027-A892-3794-3DA286112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55BDF-8E91-5184-EF9B-A95B92400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1DEA5-072E-80F1-80C3-FE312C9B5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0EAD3-D7B6-7844-557E-B89E29CBD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516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3CA09-0CEF-9665-E2C3-D84FE0DB3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41F0D-841D-5D22-4753-17E6591F2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C078B-A0AC-65C4-D192-E0B214B36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65999-1738-4CC6-39C3-7AF3489D2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EDDEF-7E03-99D0-F896-D0E333135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10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065E9-04F0-C3F6-6A9E-A61D39A92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E84DE-23BB-247F-72E7-57A866B438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1C973-FDEE-DFB7-8992-BB84543E5B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DE9F4-164A-119B-CCE2-DAF82FCCE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098C4D-75FC-950B-6E19-57C44F1CC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D6AD81-6D82-C6EC-5813-8C349CB57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668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5E509-7E6F-79A5-A71A-9FEE53516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76EB0-A12C-105A-1529-D725F5BC1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4C07A-1128-CD2A-12A2-425722C47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7FA242-5314-56B5-DB18-9CC2AF6E41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133876-9E67-06B7-C143-22E74B1528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51318A-EA73-F3AC-CB42-AF8387222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91FFF0-1614-6812-2D64-1D3936005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759242-4095-573E-630B-745F14F32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776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066E4-3D39-66E0-BB9B-E3A86D125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BC402B-E665-51FB-DE1E-F7CCDFC79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6CE8EC-58F3-616C-754A-A1E7298FC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2D2BC1-A270-F350-BD9B-81ED3B5CA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735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37D37E-AED5-7AB5-CD22-2BC6B9D48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2A41DB-AFC0-4C66-9E51-1D719A71F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20B64-1984-743C-DBD3-A5A8C2B50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215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9007C-3FA7-E993-CD0A-57F301E8A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C7942-350D-2AFF-3706-984C4C4BD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F263E-FDF6-5F83-13C6-EBF8E189CF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05310-E2B2-347A-02E2-2B9BD735A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DD8DC-2029-246F-1B88-22CBAE440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0C36D-2798-BF05-175A-DEF202E5E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54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ECD89-9132-ADA2-91AC-77C0C5C2F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8BF999-C7A0-E4B9-11E4-44CC395F8F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6C211B-6B2C-B9AD-EB21-630603C083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43E14-2BB4-C435-0DBE-ABDB7E268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403E5-7478-E6AD-9609-5582532E1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AE6FAB-086E-3147-FC1B-551DF5036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52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095FF-A624-D8D7-B8C2-990A0866B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B8F493-EB84-B74F-9F07-60773D0521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B3D7B-601F-2698-DCA1-08FA3391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BA7A8-9F0E-4302-779D-8FEFFF204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D65A8-781C-DEB3-FAFE-06746BEEE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639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845C3E-7CCC-C648-0D43-EF24FA836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E2315C-54A2-EBD9-245C-11F9A40291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565EA-48E7-A7DD-BE84-CC4996480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4FD75-52AA-199F-390C-01BDB7383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0AB6D-1078-E23D-16E4-3BD4C0651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410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3FAA4B-462F-188A-1C46-723A15EF8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3381D4-0C32-F199-9C0C-E05908796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B298D-C4AF-2A6C-D43D-821EFC505C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097544-862A-4013-B8B9-5263AB4C5B4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B4F22-9FA3-414B-4D31-6787AB8DB1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A2845-6857-54F3-962B-8B9F18AA22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998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nik1710/" TargetMode="External"/><Relationship Id="rId2" Type="http://schemas.openxmlformats.org/officeDocument/2006/relationships/hyperlink" Target="https://github.com/Cnik1710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9D83E-E910-9290-37C4-DD2DB07635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950976"/>
            <a:ext cx="11265408" cy="2558987"/>
          </a:xfrm>
        </p:spPr>
        <p:txBody>
          <a:bodyPr>
            <a:normAutofit/>
          </a:bodyPr>
          <a:lstStyle/>
          <a:p>
            <a:r>
              <a:rPr lang="en-US" b="1" dirty="0" err="1"/>
              <a:t>Kevaro</a:t>
            </a:r>
            <a:r>
              <a:rPr lang="en-US" b="1" dirty="0"/>
              <a:t> Athletics - Roster Systemization &amp; Fiscal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83C9FC-B57D-C06E-4229-BAE4DD7A2B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b="1" dirty="0"/>
              <a:t>- A Case Study by Anik Chakraborty</a:t>
            </a:r>
          </a:p>
        </p:txBody>
      </p:sp>
    </p:spTree>
    <p:extLst>
      <p:ext uri="{BB962C8B-B14F-4D97-AF65-F5344CB8AC3E}">
        <p14:creationId xmlns:p14="http://schemas.microsoft.com/office/powerpoint/2010/main" val="809594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811F7-1F7D-618F-EB00-79AF32E77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E0373-FFAE-121F-CDA5-6264B284E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79575"/>
          </a:xfrm>
        </p:spPr>
        <p:txBody>
          <a:bodyPr/>
          <a:lstStyle/>
          <a:p>
            <a:r>
              <a:rPr lang="en-US" b="1" dirty="0"/>
              <a:t>🎯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A753C-340E-7A1B-44CE-256F981A6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79576"/>
            <a:ext cx="12192000" cy="56784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/>
              <a:t>To analyze the </a:t>
            </a:r>
            <a:r>
              <a:rPr lang="en-US" sz="1400" b="1" dirty="0"/>
              <a:t>gender-wise representation and salary distribution</a:t>
            </a:r>
            <a:r>
              <a:rPr lang="en-US" sz="1400" dirty="0"/>
              <a:t> across different sports and countries for </a:t>
            </a:r>
            <a:r>
              <a:rPr lang="en-US" sz="1400" dirty="0" err="1"/>
              <a:t>Kevaro</a:t>
            </a:r>
            <a:r>
              <a:rPr lang="en-US" sz="1400" dirty="0"/>
              <a:t> Athletics’ global selection pool. The goal is to identify patterns in </a:t>
            </a:r>
            <a:r>
              <a:rPr lang="en-US" sz="1400" b="1" dirty="0"/>
              <a:t>participation diversity, pay disparity, and high-salary sports</a:t>
            </a:r>
            <a:r>
              <a:rPr lang="en-US" sz="1400" dirty="0"/>
              <a:t> to support equitable athlete management and strategic talent investments.</a:t>
            </a:r>
          </a:p>
          <a:p>
            <a:pPr marL="457200" lvl="1" indent="0">
              <a:buNone/>
            </a:pPr>
            <a:r>
              <a:rPr lang="en-US" sz="1400" b="1" dirty="0"/>
              <a:t>Project Purpose:</a:t>
            </a:r>
          </a:p>
          <a:p>
            <a:pPr lvl="2"/>
            <a:r>
              <a:rPr lang="en-US" sz="1400" dirty="0"/>
              <a:t>To design a centralized roster intelligence dashboard that provides visibility into athlete distribution, demographic segmentation, and financial investment across sports and countries.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Evaluate the </a:t>
            </a:r>
            <a:r>
              <a:rPr lang="en-US" altLang="en-US" sz="1400" b="1" dirty="0"/>
              <a:t>sport-wise and country-wise candidate participation</a:t>
            </a:r>
            <a:r>
              <a:rPr lang="en-US" altLang="en-US" sz="1400" dirty="0"/>
              <a:t> in the selection pool.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Compare </a:t>
            </a:r>
            <a:r>
              <a:rPr lang="en-US" altLang="en-US" sz="1400" b="1" dirty="0"/>
              <a:t>total and average salaries</a:t>
            </a:r>
            <a:r>
              <a:rPr lang="en-US" altLang="en-US" sz="1400" dirty="0"/>
              <a:t> between male and female athletes across sports.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Identify </a:t>
            </a:r>
            <a:r>
              <a:rPr lang="en-US" altLang="en-US" sz="1400" b="1" dirty="0"/>
              <a:t>top-performing (high-salaried) sports</a:t>
            </a:r>
            <a:r>
              <a:rPr lang="en-US" altLang="en-US" sz="1400" dirty="0"/>
              <a:t> and countries contributing maximum value.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Support </a:t>
            </a:r>
            <a:r>
              <a:rPr lang="en-US" altLang="en-US" sz="1400" dirty="0" err="1"/>
              <a:t>Kevaro</a:t>
            </a:r>
            <a:r>
              <a:rPr lang="en-US" altLang="en-US" sz="1400" dirty="0"/>
              <a:t> Athletics in designing </a:t>
            </a:r>
            <a:r>
              <a:rPr lang="en-US" altLang="en-US" sz="1400" b="1" dirty="0"/>
              <a:t>data-driven gender equity and sponsorship strategies</a:t>
            </a:r>
            <a:r>
              <a:rPr lang="en-US" altLang="en-US" sz="1400" dirty="0"/>
              <a:t>.</a:t>
            </a:r>
            <a:endParaRPr lang="en-US" sz="1400" dirty="0"/>
          </a:p>
          <a:p>
            <a:pPr marL="457200" lvl="1" indent="0">
              <a:buNone/>
            </a:pPr>
            <a:r>
              <a:rPr lang="en-US" sz="1400" b="1" dirty="0"/>
              <a:t>Key KPIs:</a:t>
            </a:r>
          </a:p>
          <a:p>
            <a:pPr lvl="2"/>
            <a:r>
              <a:rPr lang="en-US" sz="1400" dirty="0"/>
              <a:t>Total Active Athletes </a:t>
            </a:r>
          </a:p>
          <a:p>
            <a:pPr lvl="2"/>
            <a:r>
              <a:rPr lang="en-US" sz="1400" dirty="0"/>
              <a:t>Average Age </a:t>
            </a:r>
          </a:p>
          <a:p>
            <a:pPr lvl="2"/>
            <a:r>
              <a:rPr lang="en-US" sz="1400" dirty="0"/>
              <a:t>Age Range </a:t>
            </a:r>
          </a:p>
          <a:p>
            <a:pPr lvl="2"/>
            <a:r>
              <a:rPr lang="en-US" sz="1400" dirty="0"/>
              <a:t>Total Investment</a:t>
            </a:r>
          </a:p>
          <a:p>
            <a:pPr lvl="2"/>
            <a:r>
              <a:rPr lang="en-US" sz="1400" dirty="0"/>
              <a:t>Highest Pay </a:t>
            </a:r>
          </a:p>
          <a:p>
            <a:pPr lvl="2"/>
            <a:r>
              <a:rPr lang="en-US" sz="1400" dirty="0"/>
              <a:t>Country-wise &amp; Sport-wise Salary Distribution</a:t>
            </a:r>
          </a:p>
          <a:p>
            <a:pPr marL="457200" lvl="1" indent="0">
              <a:buNone/>
            </a:pPr>
            <a:r>
              <a:rPr lang="en-US" sz="1400" b="1" dirty="0"/>
              <a:t>Deliverables:</a:t>
            </a:r>
          </a:p>
          <a:p>
            <a:pPr lvl="2"/>
            <a:r>
              <a:rPr lang="en-US" sz="1400" dirty="0"/>
              <a:t>Interactive Power BI Dashboard (Roster + Fiscal View)</a:t>
            </a:r>
          </a:p>
          <a:p>
            <a:pPr lvl="2"/>
            <a:r>
              <a:rPr lang="en-US" sz="1400" dirty="0"/>
              <a:t>Athlete Segmentation Model (Age Division Logic)</a:t>
            </a:r>
          </a:p>
          <a:p>
            <a:pPr lvl="2"/>
            <a:r>
              <a:rPr lang="en-US" sz="1400" dirty="0"/>
              <a:t>Salary Distribution &amp; Financial Gap Analysis</a:t>
            </a:r>
          </a:p>
          <a:p>
            <a:pPr lvl="2"/>
            <a:r>
              <a:rPr lang="en-US" sz="1400" dirty="0"/>
              <a:t>Country &amp; Gender Participation Analysis</a:t>
            </a:r>
          </a:p>
          <a:p>
            <a:pPr lvl="2"/>
            <a:r>
              <a:rPr lang="en-US" sz="1400" dirty="0"/>
              <a:t>Executive Summary Insights</a:t>
            </a:r>
          </a:p>
        </p:txBody>
      </p:sp>
    </p:spTree>
    <p:extLst>
      <p:ext uri="{BB962C8B-B14F-4D97-AF65-F5344CB8AC3E}">
        <p14:creationId xmlns:p14="http://schemas.microsoft.com/office/powerpoint/2010/main" val="3803936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EB591-1F26-C12A-06C0-EAA868E63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5835D-CE36-F2C4-7A80-DE30417CC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61287"/>
          </a:xfrm>
        </p:spPr>
        <p:txBody>
          <a:bodyPr/>
          <a:lstStyle/>
          <a:p>
            <a:r>
              <a:rPr lang="en-US" dirty="0"/>
              <a:t>📘 </a:t>
            </a:r>
            <a:r>
              <a:rPr lang="en-US" b="1" dirty="0"/>
              <a:t>Project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0E2E2-C84A-7EC5-7DA6-EA4FDCCC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03704"/>
            <a:ext cx="12192000" cy="44531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Context Highlights:</a:t>
            </a:r>
            <a:br>
              <a:rPr lang="en-US" sz="1500" dirty="0"/>
            </a:br>
            <a:endParaRPr lang="en-US" sz="1500" dirty="0"/>
          </a:p>
          <a:p>
            <a:pPr lvl="1"/>
            <a:r>
              <a:rPr lang="en-US" sz="1500" b="1" dirty="0" err="1"/>
              <a:t>Kevaro</a:t>
            </a:r>
            <a:r>
              <a:rPr lang="en-US" sz="1500" b="1" dirty="0"/>
              <a:t> Athletics</a:t>
            </a:r>
            <a:r>
              <a:rPr lang="en-US" sz="1500" dirty="0"/>
              <a:t>, a </a:t>
            </a:r>
            <a:r>
              <a:rPr lang="en-US" sz="1500" b="1" dirty="0"/>
              <a:t>global sports organization</a:t>
            </a:r>
            <a:r>
              <a:rPr lang="en-US" sz="1500" dirty="0"/>
              <a:t>, manages a diverse roster of </a:t>
            </a:r>
            <a:r>
              <a:rPr lang="en-US" sz="1500" b="1" dirty="0"/>
              <a:t>50 athletes</a:t>
            </a:r>
            <a:r>
              <a:rPr lang="en-US" sz="1500" dirty="0"/>
              <a:t> representing </a:t>
            </a:r>
            <a:r>
              <a:rPr lang="en-US" sz="1500" b="1" dirty="0"/>
              <a:t>11 countries</a:t>
            </a:r>
            <a:r>
              <a:rPr lang="en-US" sz="1500" dirty="0"/>
              <a:t> across multiple sporting disciplines.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/>
              <a:t>This project delivers </a:t>
            </a:r>
            <a:r>
              <a:rPr lang="en-US" sz="1500" b="1" dirty="0"/>
              <a:t>structured visibility</a:t>
            </a:r>
            <a:r>
              <a:rPr lang="en-US" sz="1500" dirty="0"/>
              <a:t> into </a:t>
            </a:r>
            <a:r>
              <a:rPr lang="en-US" sz="1500" b="1" dirty="0"/>
              <a:t>roster composition</a:t>
            </a:r>
            <a:r>
              <a:rPr lang="en-US" sz="1500" dirty="0"/>
              <a:t> and </a:t>
            </a:r>
            <a:r>
              <a:rPr lang="en-US" sz="1500" b="1" dirty="0"/>
              <a:t>financial investment</a:t>
            </a:r>
            <a:r>
              <a:rPr lang="en-US" sz="1500" dirty="0"/>
              <a:t>, enabling </a:t>
            </a:r>
            <a:r>
              <a:rPr lang="en-US" sz="1500" b="1" dirty="0"/>
              <a:t>data-driven decision-making</a:t>
            </a:r>
            <a:r>
              <a:rPr lang="en-US" sz="1500" dirty="0"/>
              <a:t> across performance management and resource allocation.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/>
              <a:t>The analysis focuses on:</a:t>
            </a:r>
          </a:p>
          <a:p>
            <a:pPr lvl="2"/>
            <a:r>
              <a:rPr lang="en-US" sz="1500" b="1" dirty="0"/>
              <a:t>Athlete distribution</a:t>
            </a:r>
            <a:r>
              <a:rPr lang="en-US" sz="1500" dirty="0"/>
              <a:t> across countries and sports</a:t>
            </a:r>
          </a:p>
          <a:p>
            <a:pPr lvl="2"/>
            <a:r>
              <a:rPr lang="en-US" sz="1500" b="1" dirty="0"/>
              <a:t>Age segmentation</a:t>
            </a:r>
            <a:r>
              <a:rPr lang="en-US" sz="1500" dirty="0"/>
              <a:t> for lifecycle and performance tracking</a:t>
            </a:r>
          </a:p>
          <a:p>
            <a:pPr lvl="2"/>
            <a:r>
              <a:rPr lang="en-US" sz="1500" b="1" dirty="0"/>
              <a:t>Gender representation &amp; compensation equity</a:t>
            </a:r>
            <a:endParaRPr lang="en-US" sz="1500" dirty="0"/>
          </a:p>
          <a:p>
            <a:pPr lvl="2"/>
            <a:r>
              <a:rPr lang="en-US" sz="1500" b="1" dirty="0"/>
              <a:t>Investment patterns</a:t>
            </a:r>
            <a:r>
              <a:rPr lang="en-US" sz="1500" dirty="0"/>
              <a:t> across regions and disciplines</a:t>
            </a:r>
          </a:p>
        </p:txBody>
      </p:sp>
    </p:spTree>
    <p:extLst>
      <p:ext uri="{BB962C8B-B14F-4D97-AF65-F5344CB8AC3E}">
        <p14:creationId xmlns:p14="http://schemas.microsoft.com/office/powerpoint/2010/main" val="2210863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E7F20-BECF-1391-3101-99C678BEC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E6BD4-B8CD-82F3-298C-BAA644CDB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15567"/>
          </a:xfrm>
        </p:spPr>
        <p:txBody>
          <a:bodyPr/>
          <a:lstStyle/>
          <a:p>
            <a:r>
              <a:rPr lang="en-US" b="1" dirty="0"/>
              <a:t>🗂️ Data Overview &amp;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F3E45-C391-40C3-B37A-2AA239D0E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3584"/>
            <a:ext cx="12192000" cy="56144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Data Source:</a:t>
            </a:r>
          </a:p>
          <a:p>
            <a:pPr lvl="1"/>
            <a:r>
              <a:rPr lang="en-US" sz="1400" b="1" dirty="0"/>
              <a:t>Source:</a:t>
            </a:r>
            <a:r>
              <a:rPr lang="en-US" sz="1400" dirty="0"/>
              <a:t> Fictionalized Sports Company Dataset</a:t>
            </a:r>
          </a:p>
          <a:p>
            <a:pPr lvl="1"/>
            <a:r>
              <a:rPr lang="en-US" sz="1400" b="1" dirty="0"/>
              <a:t>Data Type:</a:t>
            </a:r>
            <a:r>
              <a:rPr lang="en-US" sz="1400" dirty="0"/>
              <a:t> Structured Tabular Athlete &amp; Financial Data</a:t>
            </a:r>
          </a:p>
          <a:p>
            <a:pPr lvl="1"/>
            <a:r>
              <a:rPr lang="en-US" sz="1400" b="1" dirty="0"/>
              <a:t>Time Period:</a:t>
            </a:r>
            <a:r>
              <a:rPr lang="en-US" sz="1400" dirty="0"/>
              <a:t> Current Active Roster Snapshot</a:t>
            </a:r>
          </a:p>
          <a:p>
            <a:pPr marL="0" indent="0">
              <a:buNone/>
            </a:pPr>
            <a:r>
              <a:rPr lang="en-US" sz="1400" b="1" dirty="0"/>
              <a:t>Data Structure &amp; Metrics:</a:t>
            </a:r>
          </a:p>
          <a:p>
            <a:pPr lvl="1"/>
            <a:r>
              <a:rPr lang="en-US" sz="1400" b="1" dirty="0"/>
              <a:t>Key Index Types:</a:t>
            </a:r>
            <a:endParaRPr lang="en-US" sz="1400" dirty="0"/>
          </a:p>
          <a:p>
            <a:pPr lvl="2"/>
            <a:r>
              <a:rPr lang="en-US" sz="1400" dirty="0"/>
              <a:t>Country</a:t>
            </a:r>
          </a:p>
          <a:p>
            <a:pPr lvl="2"/>
            <a:r>
              <a:rPr lang="en-US" sz="1400" dirty="0"/>
              <a:t>Gender</a:t>
            </a:r>
          </a:p>
          <a:p>
            <a:pPr lvl="2"/>
            <a:r>
              <a:rPr lang="en-US" sz="1400" dirty="0"/>
              <a:t>Age</a:t>
            </a:r>
          </a:p>
          <a:p>
            <a:pPr lvl="2"/>
            <a:r>
              <a:rPr lang="en-US" sz="1400" dirty="0"/>
              <a:t>Blood Type</a:t>
            </a:r>
          </a:p>
          <a:p>
            <a:pPr lvl="2"/>
            <a:r>
              <a:rPr lang="en-US" sz="1400" dirty="0"/>
              <a:t>Sport Location (Indoor/Outdoor)</a:t>
            </a:r>
          </a:p>
          <a:p>
            <a:pPr lvl="2"/>
            <a:r>
              <a:rPr lang="en-US" sz="1400" dirty="0"/>
              <a:t>Salary</a:t>
            </a:r>
          </a:p>
          <a:p>
            <a:pPr lvl="1"/>
            <a:r>
              <a:rPr lang="en-US" sz="1400" b="1" dirty="0"/>
              <a:t>Total Rows:</a:t>
            </a:r>
            <a:r>
              <a:rPr lang="en-US" sz="1400" dirty="0"/>
              <a:t> 50 Athletes</a:t>
            </a:r>
          </a:p>
          <a:p>
            <a:pPr lvl="2"/>
            <a:r>
              <a:rPr lang="en-US" sz="1400" b="1" dirty="0"/>
              <a:t>Countries:</a:t>
            </a:r>
            <a:r>
              <a:rPr lang="en-US" sz="1400" dirty="0"/>
              <a:t> 11</a:t>
            </a:r>
          </a:p>
          <a:p>
            <a:pPr lvl="2"/>
            <a:r>
              <a:rPr lang="en-US" sz="1400" b="1" dirty="0"/>
              <a:t>Sports Listed:</a:t>
            </a:r>
            <a:r>
              <a:rPr lang="en-US" sz="1400" dirty="0"/>
              <a:t> 32</a:t>
            </a:r>
          </a:p>
          <a:p>
            <a:pPr lvl="1"/>
            <a:r>
              <a:rPr lang="en-US" sz="1400" b="1" dirty="0"/>
              <a:t>Calculated Metrics:</a:t>
            </a:r>
          </a:p>
          <a:p>
            <a:pPr lvl="2"/>
            <a:r>
              <a:rPr lang="en-US" sz="1400" dirty="0"/>
              <a:t>Age Division Classification (Young, Veteran, Master, Legend, Experienced)</a:t>
            </a:r>
          </a:p>
          <a:p>
            <a:pPr lvl="2"/>
            <a:r>
              <a:rPr lang="en-US" sz="1400" dirty="0"/>
              <a:t>Total Investment</a:t>
            </a:r>
          </a:p>
          <a:p>
            <a:pPr lvl="2"/>
            <a:r>
              <a:rPr lang="en-US" sz="1400" dirty="0"/>
              <a:t>Financial Gap (Max - Min Salary) &amp; Mid Pay (Median Salary)</a:t>
            </a:r>
          </a:p>
          <a:p>
            <a:pPr lvl="2"/>
            <a:r>
              <a:rPr lang="en-US" sz="1400" dirty="0"/>
              <a:t>Country-Level Salary Contribution</a:t>
            </a:r>
          </a:p>
          <a:p>
            <a:pPr lvl="2"/>
            <a:r>
              <a:rPr lang="en-US" sz="1400" dirty="0"/>
              <a:t>Sport-Level Investment Distribution</a:t>
            </a:r>
          </a:p>
        </p:txBody>
      </p:sp>
    </p:spTree>
    <p:extLst>
      <p:ext uri="{BB962C8B-B14F-4D97-AF65-F5344CB8AC3E}">
        <p14:creationId xmlns:p14="http://schemas.microsoft.com/office/powerpoint/2010/main" val="315384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4F04C-756D-FC5C-2692-63ECB9786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803E7-C217-B9F2-5BC4-B2FEE4A89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941831"/>
          </a:xfrm>
        </p:spPr>
        <p:txBody>
          <a:bodyPr/>
          <a:lstStyle/>
          <a:p>
            <a:r>
              <a:rPr lang="en-US" b="1" dirty="0"/>
              <a:t>💻 Tech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82B41-9ABC-F787-0613-8D84F0D7E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88136"/>
            <a:ext cx="12192000" cy="57698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Tools:</a:t>
            </a:r>
            <a:endParaRPr lang="en-US" sz="1400" dirty="0"/>
          </a:p>
          <a:p>
            <a:pPr lvl="1"/>
            <a:r>
              <a:rPr lang="en-US" sz="1400" b="1" dirty="0"/>
              <a:t>Excel</a:t>
            </a:r>
          </a:p>
          <a:p>
            <a:pPr lvl="2"/>
            <a:r>
              <a:rPr lang="en-US" sz="1400" b="1" dirty="0"/>
              <a:t>Initial Data Cleaning &amp; Structuring</a:t>
            </a:r>
            <a:endParaRPr lang="en-US" sz="1400" dirty="0"/>
          </a:p>
          <a:p>
            <a:pPr lvl="2"/>
            <a:r>
              <a:rPr lang="en-US" sz="1400" b="1" dirty="0"/>
              <a:t>Text Standardization</a:t>
            </a:r>
            <a:r>
              <a:rPr lang="en-US" sz="1400" dirty="0"/>
              <a:t> (TRIM / LOWER equivalents)</a:t>
            </a:r>
          </a:p>
          <a:p>
            <a:pPr lvl="2"/>
            <a:r>
              <a:rPr lang="en-US" sz="1400" b="1" dirty="0"/>
              <a:t>Salary Format Conversion &amp; Validation</a:t>
            </a:r>
            <a:endParaRPr lang="en-US" sz="1400" dirty="0"/>
          </a:p>
          <a:p>
            <a:pPr lvl="2"/>
            <a:r>
              <a:rPr lang="en-US" sz="1400" b="1" dirty="0"/>
              <a:t>Data Storage &amp; Preprocessing</a:t>
            </a:r>
            <a:br>
              <a:rPr lang="en-US" sz="1400" dirty="0"/>
            </a:br>
            <a:endParaRPr lang="en-US" sz="1400" dirty="0"/>
          </a:p>
          <a:p>
            <a:pPr lvl="1"/>
            <a:r>
              <a:rPr lang="en-US" sz="1400" b="1" dirty="0"/>
              <a:t>Power Query</a:t>
            </a:r>
          </a:p>
          <a:p>
            <a:pPr lvl="2"/>
            <a:r>
              <a:rPr lang="en-US" sz="1400" b="1" dirty="0"/>
              <a:t>Data Transformation &amp; Shaping</a:t>
            </a:r>
            <a:endParaRPr lang="en-US" sz="1400" dirty="0"/>
          </a:p>
          <a:p>
            <a:pPr lvl="2"/>
            <a:r>
              <a:rPr lang="en-US" sz="1400" dirty="0"/>
              <a:t>Column Standardization</a:t>
            </a:r>
          </a:p>
          <a:p>
            <a:pPr lvl="2"/>
            <a:r>
              <a:rPr lang="en-US" sz="1400" b="1" dirty="0"/>
              <a:t>Age-Based Classification Modeling</a:t>
            </a:r>
            <a:endParaRPr lang="en-US" sz="1400" dirty="0"/>
          </a:p>
          <a:p>
            <a:pPr lvl="2"/>
            <a:r>
              <a:rPr lang="en-US" sz="1400" dirty="0"/>
              <a:t>Data Preparation for BI Integration</a:t>
            </a:r>
            <a:br>
              <a:rPr lang="en-US" sz="1400" dirty="0"/>
            </a:br>
            <a:endParaRPr lang="en-US" sz="1400" dirty="0"/>
          </a:p>
          <a:p>
            <a:pPr lvl="1"/>
            <a:r>
              <a:rPr lang="en-US" sz="1400" b="1" dirty="0"/>
              <a:t>Power BI</a:t>
            </a:r>
          </a:p>
          <a:p>
            <a:pPr lvl="2"/>
            <a:r>
              <a:rPr lang="en-US" sz="1400" b="1" dirty="0"/>
              <a:t>Data Modeling &amp; Relationship Building</a:t>
            </a:r>
            <a:endParaRPr lang="en-US" sz="1400" dirty="0"/>
          </a:p>
          <a:p>
            <a:pPr lvl="2"/>
            <a:r>
              <a:rPr lang="en-US" sz="1400" b="1" dirty="0"/>
              <a:t>DAX (Calculated Columns &amp; Measures)</a:t>
            </a:r>
            <a:endParaRPr lang="en-US" sz="1400" dirty="0"/>
          </a:p>
          <a:p>
            <a:pPr lvl="2"/>
            <a:r>
              <a:rPr lang="en-US" sz="1400" dirty="0"/>
              <a:t>Aggregation by </a:t>
            </a:r>
            <a:r>
              <a:rPr lang="en-US" sz="1400" b="1" dirty="0"/>
              <a:t>Country, Sport &amp; Gender</a:t>
            </a:r>
            <a:endParaRPr lang="en-US" sz="1400" dirty="0"/>
          </a:p>
          <a:p>
            <a:pPr lvl="2"/>
            <a:r>
              <a:rPr lang="en-US" sz="1400" b="1" dirty="0"/>
              <a:t>Slicers &amp; Dynamic Filtering</a:t>
            </a:r>
            <a:endParaRPr lang="en-US" sz="1400" dirty="0"/>
          </a:p>
          <a:p>
            <a:pPr lvl="2"/>
            <a:r>
              <a:rPr lang="en-US" sz="1400" b="1" dirty="0"/>
              <a:t>Age Segmentation Logic using SWITCH(TRUE())</a:t>
            </a:r>
            <a:endParaRPr lang="en-US" sz="1400" dirty="0"/>
          </a:p>
          <a:p>
            <a:pPr marL="457200" lvl="1" indent="0">
              <a:buNone/>
            </a:pPr>
            <a:endParaRPr lang="en-US" sz="1400" dirty="0"/>
          </a:p>
          <a:p>
            <a:pPr lvl="1"/>
            <a:r>
              <a:rPr lang="en-US" sz="1400" b="1" dirty="0"/>
              <a:t>PowerPoint</a:t>
            </a:r>
          </a:p>
          <a:p>
            <a:pPr lvl="2"/>
            <a:r>
              <a:rPr lang="en-US" sz="1400" dirty="0"/>
              <a:t>Presentation Design, Dashboard Snapshots &amp; Business Insight Documentation</a:t>
            </a:r>
          </a:p>
        </p:txBody>
      </p:sp>
    </p:spTree>
    <p:extLst>
      <p:ext uri="{BB962C8B-B14F-4D97-AF65-F5344CB8AC3E}">
        <p14:creationId xmlns:p14="http://schemas.microsoft.com/office/powerpoint/2010/main" val="4073397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79D91-C87E-D193-AC2E-A787D9F82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AEB39-356C-C174-AF41-697C6EDB6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142999"/>
          </a:xfrm>
        </p:spPr>
        <p:txBody>
          <a:bodyPr/>
          <a:lstStyle/>
          <a:p>
            <a:r>
              <a:rPr lang="en-US" b="1" dirty="0"/>
              <a:t>📈 Methodology &amp;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17603-E547-4E48-9971-2E34CE1D2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54480"/>
            <a:ext cx="12192000" cy="530351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Preparation, Process &amp; Analytical Approach:</a:t>
            </a:r>
          </a:p>
          <a:p>
            <a:pPr lvl="1"/>
            <a:r>
              <a:rPr lang="en-US" sz="1400" b="1" dirty="0"/>
              <a:t>Data Preparation &amp; Cleaning:</a:t>
            </a:r>
          </a:p>
          <a:p>
            <a:pPr lvl="2"/>
            <a:r>
              <a:rPr lang="en-US" sz="1000" dirty="0"/>
              <a:t>Standardized text fields (</a:t>
            </a:r>
            <a:r>
              <a:rPr lang="en-US" sz="1000" b="1" dirty="0"/>
              <a:t>Country, Sport Location, Gender</a:t>
            </a:r>
            <a:r>
              <a:rPr lang="en-US" sz="1000" dirty="0"/>
              <a:t>)</a:t>
            </a:r>
          </a:p>
          <a:p>
            <a:pPr lvl="2"/>
            <a:r>
              <a:rPr lang="en-US" sz="1000" dirty="0"/>
              <a:t>Handled missing values</a:t>
            </a:r>
          </a:p>
          <a:p>
            <a:pPr lvl="2"/>
            <a:r>
              <a:rPr lang="en-US" sz="1000" dirty="0"/>
              <a:t>Converted salary from </a:t>
            </a:r>
            <a:r>
              <a:rPr lang="en-US" sz="1000" b="1" dirty="0"/>
              <a:t>K format to numeric</a:t>
            </a:r>
            <a:endParaRPr lang="en-US" sz="1000" dirty="0"/>
          </a:p>
          <a:p>
            <a:pPr lvl="2"/>
            <a:r>
              <a:rPr lang="en-US" sz="1000" dirty="0"/>
              <a:t>Verified </a:t>
            </a:r>
            <a:r>
              <a:rPr lang="en-US" sz="1000" b="1" dirty="0"/>
              <a:t>age range (27–71)</a:t>
            </a:r>
            <a:endParaRPr lang="en-US" sz="1000" dirty="0"/>
          </a:p>
          <a:p>
            <a:pPr lvl="1"/>
            <a:r>
              <a:rPr lang="en-US" sz="1400" b="1" dirty="0"/>
              <a:t>Data Modeling &amp; Integration:</a:t>
            </a:r>
          </a:p>
          <a:p>
            <a:pPr lvl="2"/>
            <a:r>
              <a:rPr lang="en-US" sz="1000" dirty="0"/>
              <a:t>Built a </a:t>
            </a:r>
            <a:r>
              <a:rPr lang="en-US" sz="1000" b="1" dirty="0"/>
              <a:t>structured data model</a:t>
            </a:r>
            <a:endParaRPr lang="en-US" sz="1000" dirty="0"/>
          </a:p>
          <a:p>
            <a:pPr lvl="2"/>
            <a:r>
              <a:rPr lang="en-US" sz="1000" dirty="0"/>
              <a:t>Created </a:t>
            </a:r>
            <a:r>
              <a:rPr lang="en-US" sz="1000" b="1" dirty="0"/>
              <a:t>Age Division logic</a:t>
            </a:r>
            <a:endParaRPr lang="en-US" sz="1000" dirty="0"/>
          </a:p>
          <a:p>
            <a:pPr lvl="2"/>
            <a:r>
              <a:rPr lang="en-US" sz="1000" dirty="0"/>
              <a:t>Established relationships across </a:t>
            </a:r>
            <a:r>
              <a:rPr lang="en-US" sz="1000" b="1" dirty="0"/>
              <a:t>Country, Gender &amp; Sport</a:t>
            </a:r>
            <a:endParaRPr lang="en-US" sz="1000" dirty="0"/>
          </a:p>
          <a:p>
            <a:pPr lvl="1"/>
            <a:r>
              <a:rPr lang="en-US" sz="1400" b="1" dirty="0"/>
              <a:t>Feature Engineering:</a:t>
            </a:r>
          </a:p>
          <a:p>
            <a:pPr lvl="2"/>
            <a:r>
              <a:rPr lang="en-US" sz="1000" dirty="0"/>
              <a:t>Developed </a:t>
            </a:r>
            <a:r>
              <a:rPr lang="en-US" sz="1000" b="1" dirty="0"/>
              <a:t>Age Segmentation column</a:t>
            </a:r>
            <a:endParaRPr lang="en-US" sz="1000" dirty="0"/>
          </a:p>
          <a:p>
            <a:pPr lvl="2"/>
            <a:r>
              <a:rPr lang="en-US" sz="1000" dirty="0"/>
              <a:t>Calculated </a:t>
            </a:r>
            <a:r>
              <a:rPr lang="en-US" sz="1000" b="1" dirty="0"/>
              <a:t>Financial Gap &amp; Gender Ratio</a:t>
            </a:r>
            <a:endParaRPr lang="en-US" sz="1000" dirty="0"/>
          </a:p>
          <a:p>
            <a:pPr lvl="2"/>
            <a:r>
              <a:rPr lang="en-US" sz="1000" dirty="0"/>
              <a:t>Derived </a:t>
            </a:r>
            <a:r>
              <a:rPr lang="en-US" sz="1000" b="1" dirty="0"/>
              <a:t>Average Salary by Division &amp; Sport</a:t>
            </a:r>
            <a:endParaRPr lang="en-US" sz="1000" dirty="0"/>
          </a:p>
          <a:p>
            <a:pPr lvl="1"/>
            <a:r>
              <a:rPr lang="en-US" sz="1400" b="1" dirty="0"/>
              <a:t>Visualization Design:</a:t>
            </a:r>
          </a:p>
          <a:p>
            <a:pPr lvl="2"/>
            <a:r>
              <a:rPr lang="en-US" sz="1000" dirty="0"/>
              <a:t>Designed </a:t>
            </a:r>
            <a:r>
              <a:rPr lang="en-US" sz="1000" b="1" dirty="0"/>
              <a:t>interactive dashboard layout</a:t>
            </a:r>
            <a:endParaRPr lang="en-US" sz="1000" dirty="0"/>
          </a:p>
          <a:p>
            <a:pPr lvl="2"/>
            <a:r>
              <a:rPr lang="en-US" sz="1000" dirty="0"/>
              <a:t>Used </a:t>
            </a:r>
            <a:r>
              <a:rPr lang="en-US" sz="1000" b="1" dirty="0"/>
              <a:t>Bar Charts, Donut Chart, </a:t>
            </a:r>
            <a:r>
              <a:rPr lang="en-US" sz="1000" b="1" dirty="0" err="1"/>
              <a:t>Treemap</a:t>
            </a:r>
            <a:r>
              <a:rPr lang="en-US" sz="1000" b="1" dirty="0"/>
              <a:t> &amp; KPI Cards</a:t>
            </a:r>
            <a:endParaRPr lang="en-US" sz="1000" dirty="0"/>
          </a:p>
          <a:p>
            <a:pPr lvl="2"/>
            <a:r>
              <a:rPr lang="en-US" sz="1000" dirty="0"/>
              <a:t>Built </a:t>
            </a:r>
            <a:r>
              <a:rPr lang="en-US" sz="1000" b="1" dirty="0"/>
              <a:t>Fiscal Overview for salary analysis</a:t>
            </a:r>
            <a:endParaRPr lang="en-US" sz="1000" dirty="0"/>
          </a:p>
          <a:p>
            <a:pPr lvl="1"/>
            <a:r>
              <a:rPr lang="en-US" sz="1400" b="1" dirty="0"/>
              <a:t>Validation </a:t>
            </a:r>
            <a:r>
              <a:rPr lang="en-US" sz="1400" b="1"/>
              <a:t>&amp; Formatting:</a:t>
            </a:r>
            <a:endParaRPr lang="en-US" sz="1400" b="1" dirty="0"/>
          </a:p>
          <a:p>
            <a:pPr lvl="2"/>
            <a:r>
              <a:rPr lang="en-US" sz="1000" dirty="0"/>
              <a:t>Verified </a:t>
            </a:r>
            <a:r>
              <a:rPr lang="en-US" sz="1000" b="1" dirty="0"/>
              <a:t>50 athletes &amp; $3.36M total investment</a:t>
            </a:r>
            <a:endParaRPr lang="en-US" sz="1000" dirty="0"/>
          </a:p>
          <a:p>
            <a:pPr lvl="2"/>
            <a:r>
              <a:rPr lang="en-US" sz="1000" dirty="0"/>
              <a:t>Cross-validated salary totals</a:t>
            </a:r>
          </a:p>
          <a:p>
            <a:pPr lvl="2"/>
            <a:r>
              <a:rPr lang="en-US" sz="1000" dirty="0"/>
              <a:t>Applied </a:t>
            </a:r>
            <a:r>
              <a:rPr lang="en-US" sz="1000" b="1" dirty="0"/>
              <a:t>consistent executive theme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5021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6C320-3227-41F8-3415-9D1608EA4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140A-3051-8CB2-CA5B-09B45EA1A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07007"/>
          </a:xfrm>
        </p:spPr>
        <p:txBody>
          <a:bodyPr/>
          <a:lstStyle/>
          <a:p>
            <a:r>
              <a:rPr lang="en-US" dirty="0"/>
              <a:t>❓ </a:t>
            </a:r>
            <a:r>
              <a:rPr lang="en-US" b="1" dirty="0"/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CFF00-F174-FBA6-EFE9-A4BD35D93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9696"/>
            <a:ext cx="12192000" cy="47183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In a globally competitive sports environment, </a:t>
            </a:r>
            <a:r>
              <a:rPr lang="en-US" sz="1500" b="1" dirty="0"/>
              <a:t>data-driven roster and financial transparency</a:t>
            </a:r>
            <a:r>
              <a:rPr lang="en-US" sz="1500" dirty="0"/>
              <a:t> are essential for sustainable performance and equitable growth. However, without a structured analytical framework, decision-makers lack the clarity needed to optimize </a:t>
            </a:r>
            <a:r>
              <a:rPr lang="en-US" sz="1500" b="1" dirty="0"/>
              <a:t>talent allocation, compensation fairness, and investment strategy</a:t>
            </a:r>
            <a:r>
              <a:rPr lang="en-US" sz="1500" dirty="0"/>
              <a:t>.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Key Questions:</a:t>
            </a:r>
            <a:endParaRPr 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What is the overall </a:t>
            </a:r>
            <a:r>
              <a:rPr lang="en-US" altLang="en-US" sz="1500" b="1" dirty="0"/>
              <a:t>gender representation</a:t>
            </a:r>
            <a:r>
              <a:rPr lang="en-US" altLang="en-US" sz="1500" dirty="0"/>
              <a:t> in </a:t>
            </a:r>
            <a:r>
              <a:rPr lang="en-US" altLang="en-US" sz="1500" dirty="0" err="1"/>
              <a:t>Kevaro’s</a:t>
            </a:r>
            <a:r>
              <a:rPr lang="en-US" altLang="en-US" sz="1500" dirty="0"/>
              <a:t> global selection pool?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How are athletes distributed across </a:t>
            </a:r>
            <a:r>
              <a:rPr lang="en-US" altLang="en-US" sz="1500" b="1" dirty="0"/>
              <a:t>countries and sports</a:t>
            </a:r>
            <a:r>
              <a:rPr lang="en-US" altLang="en-US" sz="1500" dirty="0"/>
              <a:t>?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Which sports generate the </a:t>
            </a:r>
            <a:r>
              <a:rPr lang="en-US" altLang="en-US" sz="1500" b="1" dirty="0"/>
              <a:t>highest total and average salaries</a:t>
            </a:r>
            <a:r>
              <a:rPr lang="en-US" altLang="en-US" sz="1500" dirty="0"/>
              <a:t>?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Is there evidence of a </a:t>
            </a:r>
            <a:r>
              <a:rPr lang="en-US" altLang="en-US" sz="1500" b="1" dirty="0"/>
              <a:t>gender or age-based pay gap</a:t>
            </a:r>
            <a:r>
              <a:rPr lang="en-US" altLang="en-US" sz="1500" dirty="0"/>
              <a:t>?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Which countries contribute the </a:t>
            </a:r>
            <a:r>
              <a:rPr lang="en-US" altLang="en-US" sz="1500" b="1" dirty="0"/>
              <a:t>highest athlete count and salary volume</a:t>
            </a:r>
            <a:r>
              <a:rPr lang="en-US" altLang="en-US" sz="1500" dirty="0"/>
              <a:t>?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What is the </a:t>
            </a:r>
            <a:r>
              <a:rPr lang="en-US" altLang="en-US" sz="1500" b="1" dirty="0"/>
              <a:t>investment concentration</a:t>
            </a:r>
            <a:r>
              <a:rPr lang="en-US" altLang="en-US" sz="1500" dirty="0"/>
              <a:t> across sports and regions?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Are there signs of </a:t>
            </a:r>
            <a:r>
              <a:rPr lang="en-US" altLang="en-US" sz="1500" b="1" dirty="0"/>
              <a:t>over-investment in specific demographics</a:t>
            </a:r>
            <a:r>
              <a:rPr lang="en-US" altLang="en-US" sz="1500" dirty="0"/>
              <a:t>?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What is the </a:t>
            </a:r>
            <a:r>
              <a:rPr lang="en-US" altLang="en-US" sz="1500" b="1" dirty="0"/>
              <a:t>financial gap across age divisions</a:t>
            </a:r>
            <a:r>
              <a:rPr lang="en-US" altLang="en-US" sz="1500" dirty="0"/>
              <a:t>?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172833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940C6-AD40-71D9-E350-E07D715FA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C1E57-D742-A149-0143-7EB92C566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87551"/>
          </a:xfrm>
        </p:spPr>
        <p:txBody>
          <a:bodyPr/>
          <a:lstStyle/>
          <a:p>
            <a:r>
              <a:rPr lang="en-US" dirty="0"/>
              <a:t>💡 </a:t>
            </a:r>
            <a:r>
              <a:rPr lang="en-US" b="1" dirty="0"/>
              <a:t>Key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FE197A-AC1E-9518-0636-BAF9FA315D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390291"/>
            <a:ext cx="12192000" cy="5252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400" b="1" dirty="0"/>
              <a:t>Top Findings:</a:t>
            </a:r>
          </a:p>
          <a:p>
            <a:pPr lvl="1"/>
            <a:r>
              <a:rPr lang="en-US" sz="1400" b="1" dirty="0"/>
              <a:t>Total Investment:</a:t>
            </a:r>
            <a:r>
              <a:rPr lang="en-US" sz="1400" dirty="0"/>
              <a:t> </a:t>
            </a:r>
            <a:r>
              <a:rPr lang="en-US" sz="1400" b="1" dirty="0"/>
              <a:t>$3.36M</a:t>
            </a:r>
            <a:endParaRPr lang="en-US" sz="1400" dirty="0"/>
          </a:p>
          <a:p>
            <a:pPr lvl="1"/>
            <a:r>
              <a:rPr lang="en-US" sz="1400" b="1" dirty="0"/>
              <a:t>Balanced Gender Participation:</a:t>
            </a:r>
            <a:r>
              <a:rPr lang="en-US" sz="1400" dirty="0"/>
              <a:t> 25 Male &amp; 25 Female athletes selected globally</a:t>
            </a:r>
          </a:p>
          <a:p>
            <a:pPr lvl="1"/>
            <a:r>
              <a:rPr lang="en-US" sz="1400" b="1" dirty="0"/>
              <a:t>Gender Salary Split:</a:t>
            </a:r>
            <a:endParaRPr lang="en-US" sz="1400" dirty="0"/>
          </a:p>
          <a:p>
            <a:pPr lvl="2"/>
            <a:r>
              <a:rPr lang="en-US" sz="1400" b="1" dirty="0"/>
              <a:t>Male:</a:t>
            </a:r>
            <a:r>
              <a:rPr lang="en-US" sz="1400" dirty="0"/>
              <a:t> $1.73M (51.15%)</a:t>
            </a:r>
          </a:p>
          <a:p>
            <a:pPr lvl="2"/>
            <a:r>
              <a:rPr lang="en-US" sz="1400" b="1" dirty="0"/>
              <a:t>Female:</a:t>
            </a:r>
            <a:r>
              <a:rPr lang="en-US" sz="1400" dirty="0"/>
              <a:t> $1.63M (48.49%)</a:t>
            </a:r>
          </a:p>
          <a:p>
            <a:pPr lvl="1"/>
            <a:r>
              <a:rPr lang="en-US" sz="1400" b="1" dirty="0"/>
              <a:t>Highest Investment Sport:</a:t>
            </a:r>
            <a:r>
              <a:rPr lang="en-US" sz="1400" dirty="0"/>
              <a:t> Beach Volleyball (~$0.29M)</a:t>
            </a:r>
          </a:p>
          <a:p>
            <a:pPr lvl="1"/>
            <a:r>
              <a:rPr lang="en-US" sz="1400" b="1" dirty="0"/>
              <a:t>Top Contributing Country:</a:t>
            </a:r>
            <a:r>
              <a:rPr lang="en-US" sz="1400" dirty="0"/>
              <a:t> France (~$0.61M salary allocation)</a:t>
            </a:r>
          </a:p>
          <a:p>
            <a:pPr lvl="1"/>
            <a:r>
              <a:rPr lang="en-US" sz="1400" b="1" dirty="0"/>
              <a:t>High-Salary Sports:</a:t>
            </a:r>
            <a:r>
              <a:rPr lang="en-US" sz="1400" dirty="0"/>
              <a:t> Cycling Road, Volleyball, Alpine Skiing &amp; Triathlon</a:t>
            </a:r>
          </a:p>
          <a:p>
            <a:pPr lvl="1"/>
            <a:r>
              <a:rPr lang="en-US" sz="1400" b="1" dirty="0"/>
              <a:t>Age Structure:</a:t>
            </a:r>
            <a:r>
              <a:rPr lang="en-US" sz="1400" dirty="0"/>
              <a:t> Strong </a:t>
            </a:r>
            <a:r>
              <a:rPr lang="en-US" sz="1400" b="1" dirty="0"/>
              <a:t>mid-to-late career representation</a:t>
            </a:r>
            <a:r>
              <a:rPr lang="en-US" sz="1400" dirty="0"/>
              <a:t> (Avg. Age: 49)</a:t>
            </a:r>
          </a:p>
          <a:p>
            <a:pPr lvl="1"/>
            <a:r>
              <a:rPr lang="en-US" sz="1400" b="1" dirty="0"/>
              <a:t>Maximum Individual Salary:</a:t>
            </a:r>
            <a:r>
              <a:rPr lang="en-US" sz="1400" dirty="0"/>
              <a:t> $117.40K</a:t>
            </a:r>
          </a:p>
          <a:p>
            <a:pPr lvl="1"/>
            <a:r>
              <a:rPr lang="en-US" sz="1400" b="1" dirty="0"/>
              <a:t>Financial Gap:</a:t>
            </a:r>
            <a:r>
              <a:rPr lang="en-US" sz="1400" dirty="0"/>
              <a:t> Noticeable variance across age divisions</a:t>
            </a:r>
            <a:br>
              <a:rPr lang="en-US" sz="1400" dirty="0"/>
            </a:b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Supporting Metrics:</a:t>
            </a:r>
          </a:p>
          <a:p>
            <a:pPr lvl="1"/>
            <a:r>
              <a:rPr lang="en-US" sz="1400" b="1" dirty="0"/>
              <a:t>32 Sports</a:t>
            </a:r>
            <a:r>
              <a:rPr lang="en-US" sz="1400" dirty="0"/>
              <a:t> across </a:t>
            </a:r>
            <a:r>
              <a:rPr lang="en-US" sz="1400" b="1" dirty="0"/>
              <a:t>11 Countries</a:t>
            </a:r>
            <a:endParaRPr lang="en-US" sz="1400" dirty="0"/>
          </a:p>
          <a:p>
            <a:pPr lvl="1"/>
            <a:r>
              <a:rPr lang="en-US" sz="1400" dirty="0"/>
              <a:t>Countries with highest athlete count: </a:t>
            </a:r>
            <a:r>
              <a:rPr lang="en-US" sz="1400" b="1" dirty="0"/>
              <a:t>France (9), Australia (8), USA (7)</a:t>
            </a:r>
            <a:endParaRPr lang="en-US" sz="1400" dirty="0"/>
          </a:p>
          <a:p>
            <a:pPr lvl="1"/>
            <a:r>
              <a:rPr lang="en-US" sz="1400" dirty="0"/>
              <a:t>Evidence of </a:t>
            </a:r>
            <a:r>
              <a:rPr lang="en-US" sz="1400" b="1" dirty="0"/>
              <a:t>pay concentration in endurance &amp; cycling-related sports</a:t>
            </a:r>
            <a:endParaRPr lang="en-US" sz="1400" dirty="0"/>
          </a:p>
          <a:p>
            <a:pPr lvl="1"/>
            <a:r>
              <a:rPr lang="en-US" sz="1400" b="1" dirty="0"/>
              <a:t>Master Division athletes</a:t>
            </a:r>
            <a:r>
              <a:rPr lang="en-US" sz="1400" dirty="0"/>
              <a:t> show higher average earning tier</a:t>
            </a:r>
          </a:p>
          <a:p>
            <a:pPr lvl="1"/>
            <a:r>
              <a:rPr lang="en-US" sz="1400" dirty="0"/>
              <a:t>Some sports show </a:t>
            </a:r>
            <a:r>
              <a:rPr lang="en-US" sz="1400" b="1" dirty="0"/>
              <a:t>gender-dominant salary trends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13011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85CBA-E771-3989-E8C6-D60BEF759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F5014-4B96-A4E7-092C-FD87C2303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7377"/>
            <a:ext cx="12192000" cy="1623311"/>
          </a:xfrm>
        </p:spPr>
        <p:txBody>
          <a:bodyPr/>
          <a:lstStyle/>
          <a:p>
            <a:r>
              <a:rPr lang="en-US" dirty="0"/>
              <a:t>📍 </a:t>
            </a:r>
            <a:r>
              <a:rPr lang="en-US" b="1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B6FE066-4056-2FF9-F279-1242D79529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020709"/>
            <a:ext cx="12191998" cy="3098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500" b="1" dirty="0"/>
              <a:t>Summary:</a:t>
            </a:r>
            <a:br>
              <a:rPr lang="en-US" sz="1500" dirty="0"/>
            </a:br>
            <a:endParaRPr lang="en-US" sz="1500" dirty="0"/>
          </a:p>
          <a:p>
            <a:pPr lvl="1"/>
            <a:r>
              <a:rPr lang="en-US" sz="1500" dirty="0" err="1"/>
              <a:t>Kevaro</a:t>
            </a:r>
            <a:r>
              <a:rPr lang="en-US" sz="1500" dirty="0"/>
              <a:t> Athletics demonstrates </a:t>
            </a:r>
            <a:r>
              <a:rPr lang="en-US" sz="1500" b="1" dirty="0"/>
              <a:t>strong gender balance in participation</a:t>
            </a:r>
            <a:r>
              <a:rPr lang="en-US" sz="1500" dirty="0"/>
              <a:t>, yet salary distribution varies across disciplines.</a:t>
            </a:r>
          </a:p>
          <a:p>
            <a:pPr lvl="1"/>
            <a:r>
              <a:rPr lang="en-US" sz="1500" dirty="0"/>
              <a:t>While some sports reflect </a:t>
            </a:r>
            <a:r>
              <a:rPr lang="en-US" sz="1500" b="1" dirty="0"/>
              <a:t>female earnings leadership</a:t>
            </a:r>
            <a:r>
              <a:rPr lang="en-US" sz="1500" dirty="0"/>
              <a:t>, others show a </a:t>
            </a:r>
            <a:r>
              <a:rPr lang="en-US" sz="1500" b="1" dirty="0"/>
              <a:t>male-dominant pay concentration</a:t>
            </a:r>
            <a:r>
              <a:rPr lang="en-US" sz="1500" dirty="0"/>
              <a:t>, indicating opportunities for targeted parity initiatives and performance-linked compensation review.</a:t>
            </a:r>
          </a:p>
          <a:p>
            <a:pPr lvl="1"/>
            <a:r>
              <a:rPr lang="en-US" sz="1500" dirty="0"/>
              <a:t>The analysis highlights:</a:t>
            </a:r>
          </a:p>
          <a:p>
            <a:pPr lvl="2"/>
            <a:r>
              <a:rPr lang="en-US" sz="1500" b="1" dirty="0"/>
              <a:t>Balanced gender investment overall</a:t>
            </a:r>
            <a:endParaRPr lang="en-US" sz="1500" dirty="0"/>
          </a:p>
          <a:p>
            <a:pPr lvl="2"/>
            <a:r>
              <a:rPr lang="en-US" sz="1500" b="1" dirty="0"/>
              <a:t>Regional concentration in European markets</a:t>
            </a:r>
            <a:endParaRPr lang="en-US" sz="1500" dirty="0"/>
          </a:p>
          <a:p>
            <a:pPr lvl="2"/>
            <a:r>
              <a:rPr lang="en-US" sz="1500" b="1" dirty="0"/>
              <a:t>Financial dominance of endurance &amp; cycling sports</a:t>
            </a:r>
            <a:endParaRPr lang="en-US" sz="1500" dirty="0"/>
          </a:p>
          <a:p>
            <a:pPr lvl="2"/>
            <a:r>
              <a:rPr lang="en-US" sz="1500" b="1" dirty="0"/>
              <a:t>Clear age-based salary progression trends</a:t>
            </a:r>
            <a:endParaRPr lang="en-US" sz="1500" dirty="0"/>
          </a:p>
          <a:p>
            <a:pPr lvl="1"/>
            <a:r>
              <a:rPr lang="en-US" sz="1500" dirty="0"/>
              <a:t>The integrated dashboard combines </a:t>
            </a:r>
            <a:r>
              <a:rPr lang="en-US" sz="1500" b="1" dirty="0"/>
              <a:t>roster intelligence with financial analytics</a:t>
            </a:r>
            <a:r>
              <a:rPr lang="en-US" sz="1500" dirty="0"/>
              <a:t>, enabling leadership to make </a:t>
            </a:r>
            <a:r>
              <a:rPr lang="en-US" sz="1500" b="1" dirty="0"/>
              <a:t>data-driven allocation and equity-focused decisions</a:t>
            </a:r>
            <a:r>
              <a:rPr lang="en-US" sz="1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0622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204B8-5813-9B83-C88B-8F06397BF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09649"/>
          </a:xfrm>
        </p:spPr>
        <p:txBody>
          <a:bodyPr/>
          <a:lstStyle/>
          <a:p>
            <a:r>
              <a:rPr lang="en-US" dirty="0"/>
              <a:t>🖥️</a:t>
            </a:r>
            <a:r>
              <a:rPr lang="en-US" b="1" dirty="0"/>
              <a:t>Dashboard Overview (1) - Roster Insights 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E4EF285-147C-54E6-070F-652EE601B2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9650"/>
            <a:ext cx="12192000" cy="584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219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A2D79-2082-30AC-B4E6-E926896F2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E2160-DBA1-381D-7C93-B403751FE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09649"/>
          </a:xfrm>
        </p:spPr>
        <p:txBody>
          <a:bodyPr/>
          <a:lstStyle/>
          <a:p>
            <a:r>
              <a:rPr lang="en-US" dirty="0"/>
              <a:t>🖥️</a:t>
            </a:r>
            <a:r>
              <a:rPr lang="en-US" b="1" dirty="0"/>
              <a:t>Dashboard Overview (2) - Fiscal Overview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89D9B86-3115-2A34-76F6-66CB77A9B7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9650"/>
            <a:ext cx="12192000" cy="584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26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5B13908-EFB8-3EB9-D2D0-C74A96BEBA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63879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✅ Business Impact &amp; Use Cases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3CFD32-988F-A5B5-81C5-3387A6BC26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956073"/>
            <a:ext cx="12192000" cy="4016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/>
              <a:t>Supports Gender Equity Reporting &amp; Pay Gap Monitoring</a:t>
            </a:r>
            <a:r>
              <a:rPr lang="en-US" altLang="en-US" sz="1500" dirty="0"/>
              <a:t> aligned with global sports standards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Enables </a:t>
            </a:r>
            <a:r>
              <a:rPr lang="en-US" altLang="en-US" sz="1500" b="1" dirty="0"/>
              <a:t>Strategic Salary Budgeting &amp; Sponsorship Alignment</a:t>
            </a:r>
            <a:r>
              <a:rPr lang="en-US" altLang="en-US" sz="1500" dirty="0"/>
              <a:t> by sport and gender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Empowers HR to identify </a:t>
            </a:r>
            <a:r>
              <a:rPr lang="en-US" altLang="en-US" sz="1500" b="1" dirty="0"/>
              <a:t>underrepresented sports &amp; talent gaps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Forms the foundation for a future </a:t>
            </a:r>
            <a:r>
              <a:rPr lang="en-US" altLang="en-US" sz="1500" b="1" dirty="0"/>
              <a:t>Diversity &amp; Inclusion Dashboard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Strengthens </a:t>
            </a:r>
            <a:r>
              <a:rPr lang="en-US" altLang="en-US" sz="1500" b="1" dirty="0"/>
              <a:t>Strategic Budget Allocation &amp; Investment Planning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Assists in </a:t>
            </a:r>
            <a:r>
              <a:rPr lang="en-US" altLang="en-US" sz="1500" b="1" dirty="0"/>
              <a:t>Talent Lifecycle &amp; Age-Based Performance Planning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Supports </a:t>
            </a:r>
            <a:r>
              <a:rPr lang="en-US" altLang="en-US" sz="1500" b="1" dirty="0"/>
              <a:t>International Expansion Strategy</a:t>
            </a:r>
            <a:r>
              <a:rPr lang="en-US" altLang="en-US" sz="1500" dirty="0"/>
              <a:t> through country-level insights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Identifies </a:t>
            </a:r>
            <a:r>
              <a:rPr lang="en-US" altLang="en-US" sz="1500" b="1" dirty="0"/>
              <a:t>High-Investment &amp; High-Return Sports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Enhances </a:t>
            </a:r>
            <a:r>
              <a:rPr lang="en-US" altLang="en-US" sz="1500" b="1" dirty="0"/>
              <a:t>Executive Decision-Making with Real-Time Interactive Insights</a:t>
            </a:r>
            <a:endParaRPr lang="en-US" altLang="en-US" sz="1500" dirty="0"/>
          </a:p>
        </p:txBody>
      </p:sp>
    </p:spTree>
    <p:extLst>
      <p:ext uri="{BB962C8B-B14F-4D97-AF65-F5344CB8AC3E}">
        <p14:creationId xmlns:p14="http://schemas.microsoft.com/office/powerpoint/2010/main" val="2754318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F312E-E095-11B1-2E4F-C052CA408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r>
              <a:rPr lang="en-US" dirty="0"/>
              <a:t>🙏 </a:t>
            </a:r>
            <a:r>
              <a:rPr lang="en-US" b="1" dirty="0"/>
              <a:t>Acknowledgement &amp; Contact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580AE-97C9-723D-BDEE-EF026E7D1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Project Analyst: </a:t>
            </a:r>
            <a:r>
              <a:rPr lang="en-US" dirty="0"/>
              <a:t>Anik Chakraborty</a:t>
            </a:r>
            <a:br>
              <a:rPr lang="en-US" dirty="0"/>
            </a:br>
            <a:r>
              <a:rPr lang="en-US" dirty="0"/>
              <a:t>		📧 Email: anikc1710@gmail.com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Special Thanks To:</a:t>
            </a:r>
            <a:endParaRPr lang="en-US" dirty="0"/>
          </a:p>
          <a:p>
            <a:pPr lvl="1"/>
            <a:r>
              <a:rPr lang="en-US" b="1" dirty="0"/>
              <a:t>Coding Ninjas</a:t>
            </a:r>
            <a:r>
              <a:rPr lang="en-US" dirty="0"/>
              <a:t> – for project framework and guidance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Connect:</a:t>
            </a:r>
            <a:br>
              <a:rPr lang="en-US" dirty="0"/>
            </a:br>
            <a:r>
              <a:rPr lang="en-US" dirty="0">
                <a:hlinkClick r:id="rId2"/>
              </a:rPr>
              <a:t>🔗 GitHub</a:t>
            </a:r>
            <a:r>
              <a:rPr lang="en-US" dirty="0"/>
              <a:t> | </a:t>
            </a:r>
            <a:r>
              <a:rPr lang="en-US" dirty="0">
                <a:hlinkClick r:id="rId3"/>
              </a:rPr>
              <a:t>🔗 LinkedIn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172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4EABD-1638-7E2F-9F25-4B5A994E8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49875"/>
          </a:xfrm>
        </p:spPr>
        <p:txBody>
          <a:bodyPr>
            <a:normAutofit/>
          </a:bodyPr>
          <a:lstStyle/>
          <a:p>
            <a:pPr algn="ctr"/>
            <a:r>
              <a:rPr lang="en-US" sz="9600" b="1" dirty="0"/>
              <a:t>Thank You!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236522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11954</TotalTime>
  <Words>1116</Words>
  <Application>Microsoft Office PowerPoint</Application>
  <PresentationFormat>Widescreen</PresentationFormat>
  <Paragraphs>170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Kevaro Athletics - Roster Systemization &amp; Fiscal Analysis</vt:lpstr>
      <vt:lpstr>🎯 Objective</vt:lpstr>
      <vt:lpstr>📘 Project Overview</vt:lpstr>
      <vt:lpstr>🗂️ Data Overview &amp; Schema</vt:lpstr>
      <vt:lpstr>💻 Tech Stack</vt:lpstr>
      <vt:lpstr>📈 Methodology &amp; Analysis</vt:lpstr>
      <vt:lpstr>❓ Problem Statement</vt:lpstr>
      <vt:lpstr>💡 Key Insights</vt:lpstr>
      <vt:lpstr>📍 Conclusion</vt:lpstr>
      <vt:lpstr>🖥️Dashboard Overview (1) - Roster Insights </vt:lpstr>
      <vt:lpstr>🖥️Dashboard Overview (2) - Fiscal Overview</vt:lpstr>
      <vt:lpstr>✅ Business Impact &amp; Use Cases</vt:lpstr>
      <vt:lpstr>🙏 Acknowledgement &amp; Contact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 Chakraborty</dc:creator>
  <cp:lastModifiedBy>Anik Chakraborty</cp:lastModifiedBy>
  <cp:revision>67</cp:revision>
  <dcterms:created xsi:type="dcterms:W3CDTF">2025-09-09T12:03:39Z</dcterms:created>
  <dcterms:modified xsi:type="dcterms:W3CDTF">2026-03-06T01:41:20Z</dcterms:modified>
</cp:coreProperties>
</file>